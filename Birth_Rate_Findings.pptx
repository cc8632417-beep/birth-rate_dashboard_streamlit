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shboard findings" id="{e6404e1b-93c3-66ca-3a52-19637221c81c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1. All three series are rebased to 2016 = 100. Live births fell 27.6% (41,251 to 29,864) while HDB resale prices rose 51.3% and consumer prices 19.3%. Until 2020 the three lines stay close together; from 2021 HDB prices climb every year and births fall, most sharply in 2022 (−7.9%) and 2025 (−11.4%). Level correlation of births with the HDB index is −0.94. Same-year changes are unrelated (r = +0.06), but price growth one year earlier is (r = −0.75, p = 0.03, n = 8), which fits a delayed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2. Fertility fell most for mothers aged 25–29 (−27.7 births per 1,000 females, −42.1%) and 30–34 (−26.5, −27.5%). Together these two groups make up about 80% of the total decline across age groups. Rates at 40–44 and 45–49 rose slightly, which suggests some postponement, but the gain (+0.9) is far too small to offset the falls (−67.6). The correlation with real HDB prices (HDB index divided by CPI) is strongest for 25–29 (−0.94), 30–34 (−0.88) and 20–24 (−0.86), weak for 35–39 (−0.19) and positive but not significant for 40+.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3. Fertility fell in all three groups: Chinese 1.07 to 0.70 (−34.6%), Malays 1.80 to 1.53 (−15.0%), Indians 1.04 to 0.92 (−11.5%). All remain below the replacement level of 2.1. Level correlations with CPI are −0.94, −0.91 and −0.74. Timing differs: Chinese fertility declined steadily, while Malay fertility held near 1.8 until 2022 and then fell after CPI inflation picked up in 2022–2023. Caveat: only 10 annual observations and both series trend, so this is association,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188720"/>
            <a:ext cx="11643055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Births vs. Prices, 2016–2025</a:t>
            </a:r>
            <a:endParaRPr lang="en-US" sz="3600" dirty="0"/>
          </a:p>
        </p:txBody>
      </p:sp>
      <p:sp>
        <p:nvSpPr>
          <p:cNvPr id="3" name="Number 1"/>
          <p:cNvSpPr txBox="1"/>
          <p:nvPr/>
        </p:nvSpPr>
        <p:spPr>
          <a:xfrm>
            <a:off x="45720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Heading 2"/>
          <p:cNvSpPr txBox="1"/>
          <p:nvPr/>
        </p:nvSpPr>
        <p:spPr>
          <a:xfrm>
            <a:off x="1078992" y="1371600"/>
            <a:ext cx="6327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births fell 27.6% while HDB resale prices rose 51.3%</a:t>
            </a:r>
            <a:endParaRPr lang="en-US" sz="1800" dirty="0"/>
          </a:p>
        </p:txBody>
      </p:sp>
      <p:pic>
        <p:nvPicPr>
          <p:cNvPr id="5" name="Dashboard screenshot" descr="Dashboard line chart: total live births, HDB Resale Price Index and CPI, all rebased to 2016 = 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8938"/>
            <a:ext cx="6949440" cy="2460203"/>
          </a:xfrm>
          <a:prstGeom prst="rect">
            <a:avLst/>
          </a:prstGeom>
        </p:spPr>
      </p:pic>
      <p:sp>
        <p:nvSpPr>
          <p:cNvPr id="6" name="Callout 3"/>
          <p:cNvSpPr/>
          <p:nvPr/>
        </p:nvSpPr>
        <p:spPr>
          <a:xfrm>
            <a:off x="457200" y="5532120"/>
            <a:ext cx="6949440" cy="868680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7" name="Icon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37860"/>
            <a:ext cx="457200" cy="457200"/>
          </a:xfrm>
          <a:prstGeom prst="rect">
            <a:avLst/>
          </a:prstGeom>
        </p:spPr>
      </p:pic>
      <p:sp>
        <p:nvSpPr>
          <p:cNvPr id="8" name="Callout text 5"/>
          <p:cNvSpPr txBox="1"/>
          <p:nvPr/>
        </p:nvSpPr>
        <p:spPr>
          <a:xfrm>
            <a:off x="1325880" y="55321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births and the HDB index move in opposite directions: r = −0.94 across the 10 years</a:t>
            </a:r>
            <a:endParaRPr lang="en-US" sz="1500" dirty="0"/>
          </a:p>
        </p:txBody>
      </p:sp>
      <p:sp>
        <p:nvSpPr>
          <p:cNvPr id="9" name="Number 6"/>
          <p:cNvSpPr txBox="1"/>
          <p:nvPr/>
        </p:nvSpPr>
        <p:spPr>
          <a:xfrm>
            <a:off x="772668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Heading 7"/>
          <p:cNvSpPr txBox="1"/>
          <p:nvPr/>
        </p:nvSpPr>
        <p:spPr>
          <a:xfrm>
            <a:off x="8348472" y="1371600"/>
            <a:ext cx="338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gap opens after 2020</a:t>
            </a:r>
            <a:endParaRPr lang="en-US" sz="1800" dirty="0"/>
          </a:p>
        </p:txBody>
      </p:sp>
      <p:sp>
        <p:nvSpPr>
          <p:cNvPr id="11" name="Stat label 8"/>
          <p:cNvSpPr txBox="1"/>
          <p:nvPr/>
        </p:nvSpPr>
        <p:spPr>
          <a:xfrm>
            <a:off x="772668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births</a:t>
            </a:r>
            <a:endParaRPr lang="en-US" sz="1400" dirty="0"/>
          </a:p>
        </p:txBody>
      </p:sp>
      <p:sp>
        <p:nvSpPr>
          <p:cNvPr id="12" name="Stat box 9"/>
          <p:cNvSpPr txBox="1"/>
          <p:nvPr/>
        </p:nvSpPr>
        <p:spPr>
          <a:xfrm>
            <a:off x="8869680" y="224028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−27.6% (41,251 → 29,864)</a:t>
            </a:r>
            <a:endParaRPr lang="en-US" sz="1400" dirty="0"/>
          </a:p>
        </p:txBody>
      </p:sp>
      <p:sp>
        <p:nvSpPr>
          <p:cNvPr id="13" name="Stat label 10"/>
          <p:cNvSpPr txBox="1"/>
          <p:nvPr/>
        </p:nvSpPr>
        <p:spPr>
          <a:xfrm>
            <a:off x="7726680" y="3063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HDB resale</a:t>
            </a:r>
            <a:endParaRPr lang="en-US" sz="1400" dirty="0"/>
          </a:p>
        </p:txBody>
      </p:sp>
      <p:sp>
        <p:nvSpPr>
          <p:cNvPr id="14" name="Stat box 11"/>
          <p:cNvSpPr txBox="1"/>
          <p:nvPr/>
        </p:nvSpPr>
        <p:spPr>
          <a:xfrm>
            <a:off x="8869680" y="306324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+51.3% (index 100 → 151.3)</a:t>
            </a:r>
            <a:endParaRPr lang="en-US" sz="1400" dirty="0"/>
          </a:p>
        </p:txBody>
      </p:sp>
      <p:sp>
        <p:nvSpPr>
          <p:cNvPr id="15" name="Stat label 12"/>
          <p:cNvSpPr txBox="1"/>
          <p:nvPr/>
        </p:nvSpPr>
        <p:spPr>
          <a:xfrm>
            <a:off x="7726680" y="38862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Consumer prices</a:t>
            </a:r>
            <a:endParaRPr lang="en-US" sz="1400" dirty="0"/>
          </a:p>
        </p:txBody>
      </p:sp>
      <p:sp>
        <p:nvSpPr>
          <p:cNvPr id="16" name="Stat box 13"/>
          <p:cNvSpPr txBox="1"/>
          <p:nvPr/>
        </p:nvSpPr>
        <p:spPr>
          <a:xfrm>
            <a:off x="8869680" y="388620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+19.3% (index 100 → 119.3)</a:t>
            </a:r>
            <a:endParaRPr lang="en-US" sz="1400" dirty="0"/>
          </a:p>
        </p:txBody>
      </p:sp>
      <p:sp>
        <p:nvSpPr>
          <p:cNvPr id="17" name="Takeaway frame 14"/>
          <p:cNvSpPr/>
          <p:nvPr/>
        </p:nvSpPr>
        <p:spPr>
          <a:xfrm>
            <a:off x="7726680" y="4754880"/>
            <a:ext cx="4007815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pic>
        <p:nvPicPr>
          <p:cNvPr id="18" name="Icon 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945380"/>
            <a:ext cx="411480" cy="411480"/>
          </a:xfrm>
          <a:prstGeom prst="rect">
            <a:avLst/>
          </a:prstGeom>
        </p:spPr>
      </p:pic>
      <p:sp>
        <p:nvSpPr>
          <p:cNvPr id="19" name="Takeaway 16"/>
          <p:cNvSpPr txBox="1"/>
          <p:nvPr/>
        </p:nvSpPr>
        <p:spPr>
          <a:xfrm>
            <a:off x="8503920" y="492252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2016–2020: all three stay within 7% of their 2016 level</a:t>
            </a:r>
            <a:endParaRPr lang="en-US" sz="1400" dirty="0"/>
          </a:p>
        </p:txBody>
      </p:sp>
      <p:pic>
        <p:nvPicPr>
          <p:cNvPr id="20" name="Icon 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5684520"/>
            <a:ext cx="411480" cy="411480"/>
          </a:xfrm>
          <a:prstGeom prst="rect">
            <a:avLst/>
          </a:prstGeom>
        </p:spPr>
      </p:pic>
      <p:sp>
        <p:nvSpPr>
          <p:cNvPr id="21" name="Takeaway 18"/>
          <p:cNvSpPr txBox="1"/>
          <p:nvPr/>
        </p:nvSpPr>
        <p:spPr>
          <a:xfrm>
            <a:off x="8503920" y="5547360"/>
            <a:ext cx="3093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From 2021 HDB prices rise every year; births drop most in 2022 (−7.9%) and 2025 (−11.4%)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Fertility by Age of Mother</a:t>
            </a:r>
            <a:endParaRPr lang="en-US" sz="3600" dirty="0"/>
          </a:p>
        </p:txBody>
      </p:sp>
      <p:sp>
        <p:nvSpPr>
          <p:cNvPr id="3" name="Number 19"/>
          <p:cNvSpPr txBox="1"/>
          <p:nvPr/>
        </p:nvSpPr>
        <p:spPr>
          <a:xfrm>
            <a:off x="45720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Heading 20"/>
          <p:cNvSpPr txBox="1"/>
          <p:nvPr/>
        </p:nvSpPr>
        <p:spPr>
          <a:xfrm>
            <a:off x="1078992" y="1371600"/>
            <a:ext cx="6327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fall is concentrated in mothers aged 25–34</a:t>
            </a:r>
            <a:endParaRPr lang="en-US" sz="1800" dirty="0"/>
          </a:p>
        </p:txBody>
      </p:sp>
      <p:pic>
        <p:nvPicPr>
          <p:cNvPr id="5" name="Dashboard screenshot" descr="Dashboard bar charts: change in fertility rate by age of mother 2016 to 2025, and correlation of each age group with real HDB pr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69893"/>
            <a:ext cx="6949440" cy="2958294"/>
          </a:xfrm>
          <a:prstGeom prst="rect">
            <a:avLst/>
          </a:prstGeom>
        </p:spPr>
      </p:pic>
      <p:sp>
        <p:nvSpPr>
          <p:cNvPr id="6" name="Callout 21"/>
          <p:cNvSpPr/>
          <p:nvPr/>
        </p:nvSpPr>
        <p:spPr>
          <a:xfrm>
            <a:off x="457200" y="5532120"/>
            <a:ext cx="6949440" cy="868680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7" name="Icon 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37860"/>
            <a:ext cx="457200" cy="457200"/>
          </a:xfrm>
          <a:prstGeom prst="rect">
            <a:avLst/>
          </a:prstGeom>
        </p:spPr>
      </p:pic>
      <p:sp>
        <p:nvSpPr>
          <p:cNvPr id="8" name="Callout text 23"/>
          <p:cNvSpPr txBox="1"/>
          <p:nvPr/>
        </p:nvSpPr>
        <p:spPr>
          <a:xfrm>
            <a:off x="1325880" y="55321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Ages 25–34 account for about 80% of the total fall in age-specific fertility</a:t>
            </a:r>
            <a:endParaRPr lang="en-US" sz="1500" dirty="0"/>
          </a:p>
        </p:txBody>
      </p:sp>
      <p:sp>
        <p:nvSpPr>
          <p:cNvPr id="9" name="Number 24"/>
          <p:cNvSpPr txBox="1"/>
          <p:nvPr/>
        </p:nvSpPr>
        <p:spPr>
          <a:xfrm>
            <a:off x="772668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Heading 25"/>
          <p:cNvSpPr txBox="1"/>
          <p:nvPr/>
        </p:nvSpPr>
        <p:spPr>
          <a:xfrm>
            <a:off x="8348472" y="1371600"/>
            <a:ext cx="338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same ages track housing prices most closely</a:t>
            </a:r>
            <a:endParaRPr lang="en-US" sz="1800" dirty="0"/>
          </a:p>
        </p:txBody>
      </p:sp>
      <p:sp>
        <p:nvSpPr>
          <p:cNvPr id="11" name="Stat label 26"/>
          <p:cNvSpPr txBox="1"/>
          <p:nvPr/>
        </p:nvSpPr>
        <p:spPr>
          <a:xfrm>
            <a:off x="772668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 25–29</a:t>
            </a:r>
            <a:endParaRPr lang="en-US" sz="1400" dirty="0"/>
          </a:p>
        </p:txBody>
      </p:sp>
      <p:sp>
        <p:nvSpPr>
          <p:cNvPr id="12" name="Stat box 27"/>
          <p:cNvSpPr txBox="1"/>
          <p:nvPr/>
        </p:nvSpPr>
        <p:spPr>
          <a:xfrm>
            <a:off x="8869680" y="224028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−27.7 per 1,000 (−42%), r = −0.94</a:t>
            </a:r>
            <a:endParaRPr lang="en-US" sz="1400" dirty="0"/>
          </a:p>
        </p:txBody>
      </p:sp>
      <p:sp>
        <p:nvSpPr>
          <p:cNvPr id="13" name="Stat label 28"/>
          <p:cNvSpPr txBox="1"/>
          <p:nvPr/>
        </p:nvSpPr>
        <p:spPr>
          <a:xfrm>
            <a:off x="7726680" y="3063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 30–34</a:t>
            </a:r>
            <a:endParaRPr lang="en-US" sz="1400" dirty="0"/>
          </a:p>
        </p:txBody>
      </p:sp>
      <p:sp>
        <p:nvSpPr>
          <p:cNvPr id="14" name="Stat box 29"/>
          <p:cNvSpPr txBox="1"/>
          <p:nvPr/>
        </p:nvSpPr>
        <p:spPr>
          <a:xfrm>
            <a:off x="8869680" y="306324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−26.5 per 1,000 (−28%), r = −0.88</a:t>
            </a:r>
            <a:endParaRPr lang="en-US" sz="1400" dirty="0"/>
          </a:p>
        </p:txBody>
      </p:sp>
      <p:sp>
        <p:nvSpPr>
          <p:cNvPr id="15" name="Stat label 30"/>
          <p:cNvSpPr txBox="1"/>
          <p:nvPr/>
        </p:nvSpPr>
        <p:spPr>
          <a:xfrm>
            <a:off x="7726680" y="38862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 40–44</a:t>
            </a:r>
            <a:endParaRPr lang="en-US" sz="1400" dirty="0"/>
          </a:p>
        </p:txBody>
      </p:sp>
      <p:sp>
        <p:nvSpPr>
          <p:cNvPr id="16" name="Stat box 31"/>
          <p:cNvSpPr txBox="1"/>
          <p:nvPr/>
        </p:nvSpPr>
        <p:spPr>
          <a:xfrm>
            <a:off x="8869680" y="388620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+0.7 per 1,000 (+8%), r = +0.56</a:t>
            </a:r>
            <a:endParaRPr lang="en-US" sz="1400" dirty="0"/>
          </a:p>
        </p:txBody>
      </p:sp>
      <p:sp>
        <p:nvSpPr>
          <p:cNvPr id="17" name="Takeaway frame 32"/>
          <p:cNvSpPr/>
          <p:nvPr/>
        </p:nvSpPr>
        <p:spPr>
          <a:xfrm>
            <a:off x="7726680" y="4754880"/>
            <a:ext cx="4007815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pic>
        <p:nvPicPr>
          <p:cNvPr id="18" name="Icon 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983480"/>
            <a:ext cx="411480" cy="411480"/>
          </a:xfrm>
          <a:prstGeom prst="rect">
            <a:avLst/>
          </a:prstGeom>
        </p:spPr>
      </p:pic>
      <p:sp>
        <p:nvSpPr>
          <p:cNvPr id="19" name="Takeaway 34"/>
          <p:cNvSpPr txBox="1"/>
          <p:nvPr/>
        </p:nvSpPr>
        <p:spPr>
          <a:xfrm>
            <a:off x="8503920" y="4846320"/>
            <a:ext cx="3093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ages when couples usually marry and buy a first flat fell the most</a:t>
            </a:r>
            <a:endParaRPr lang="en-US" sz="1400" dirty="0"/>
          </a:p>
        </p:txBody>
      </p:sp>
      <p:pic>
        <p:nvPicPr>
          <p:cNvPr id="20" name="Icon 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5760720"/>
            <a:ext cx="411480" cy="411480"/>
          </a:xfrm>
          <a:prstGeom prst="rect">
            <a:avLst/>
          </a:prstGeom>
        </p:spPr>
      </p:pic>
      <p:sp>
        <p:nvSpPr>
          <p:cNvPr id="21" name="Takeaway 36"/>
          <p:cNvSpPr txBox="1"/>
          <p:nvPr/>
        </p:nvSpPr>
        <p:spPr>
          <a:xfrm>
            <a:off x="8503920" y="5623560"/>
            <a:ext cx="3093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Gains at 40+ (+0.9 per 1,000) are far too small to offset the falls (−67.6)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Fertility by Ethnic Group</a:t>
            </a:r>
            <a:endParaRPr lang="en-US" sz="3600" dirty="0"/>
          </a:p>
        </p:txBody>
      </p:sp>
      <p:sp>
        <p:nvSpPr>
          <p:cNvPr id="3" name="Number 37"/>
          <p:cNvSpPr txBox="1"/>
          <p:nvPr/>
        </p:nvSpPr>
        <p:spPr>
          <a:xfrm>
            <a:off x="45720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Heading 38"/>
          <p:cNvSpPr txBox="1"/>
          <p:nvPr/>
        </p:nvSpPr>
        <p:spPr>
          <a:xfrm>
            <a:off x="1078992" y="1371600"/>
            <a:ext cx="6327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Fertility fell in every ethnic group, most for Chinese</a:t>
            </a:r>
            <a:endParaRPr lang="en-US" sz="1800" dirty="0"/>
          </a:p>
        </p:txBody>
      </p:sp>
      <p:pic>
        <p:nvPicPr>
          <p:cNvPr id="5" name="Dashboard screenshot" descr="Dashboard bar charts: change in fertility rate by ethnic group 2016 to 2025, and correlation of each group with C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96332"/>
            <a:ext cx="6949440" cy="2905416"/>
          </a:xfrm>
          <a:prstGeom prst="rect">
            <a:avLst/>
          </a:prstGeom>
        </p:spPr>
      </p:pic>
      <p:sp>
        <p:nvSpPr>
          <p:cNvPr id="6" name="Callout 39"/>
          <p:cNvSpPr/>
          <p:nvPr/>
        </p:nvSpPr>
        <p:spPr>
          <a:xfrm>
            <a:off x="457200" y="5532120"/>
            <a:ext cx="6949440" cy="868680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7" name="Icon 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737860"/>
            <a:ext cx="457200" cy="457200"/>
          </a:xfrm>
          <a:prstGeom prst="rect">
            <a:avLst/>
          </a:prstGeom>
        </p:spPr>
      </p:pic>
      <p:sp>
        <p:nvSpPr>
          <p:cNvPr id="8" name="Callout text 41"/>
          <p:cNvSpPr txBox="1"/>
          <p:nvPr/>
        </p:nvSpPr>
        <p:spPr>
          <a:xfrm>
            <a:off x="1325880" y="55321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group stays below the replacement level of 2.1 births per female</a:t>
            </a:r>
            <a:endParaRPr lang="en-US" sz="1500" dirty="0"/>
          </a:p>
        </p:txBody>
      </p:sp>
      <p:sp>
        <p:nvSpPr>
          <p:cNvPr id="9" name="Number 42"/>
          <p:cNvSpPr txBox="1"/>
          <p:nvPr/>
        </p:nvSpPr>
        <p:spPr>
          <a:xfrm>
            <a:off x="7726680" y="146304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Heading 43"/>
          <p:cNvSpPr txBox="1"/>
          <p:nvPr/>
        </p:nvSpPr>
        <p:spPr>
          <a:xfrm>
            <a:off x="8348472" y="1371600"/>
            <a:ext cx="338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 three groups move against consumer prices</a:t>
            </a:r>
            <a:endParaRPr lang="en-US" sz="1800" dirty="0"/>
          </a:p>
        </p:txBody>
      </p:sp>
      <p:sp>
        <p:nvSpPr>
          <p:cNvPr id="11" name="Stat label 44"/>
          <p:cNvSpPr txBox="1"/>
          <p:nvPr/>
        </p:nvSpPr>
        <p:spPr>
          <a:xfrm>
            <a:off x="772668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Chinese</a:t>
            </a:r>
            <a:endParaRPr lang="en-US" sz="1400" dirty="0"/>
          </a:p>
        </p:txBody>
      </p:sp>
      <p:sp>
        <p:nvSpPr>
          <p:cNvPr id="12" name="Stat box 45"/>
          <p:cNvSpPr txBox="1"/>
          <p:nvPr/>
        </p:nvSpPr>
        <p:spPr>
          <a:xfrm>
            <a:off x="8869680" y="224028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1.07 → 0.70 (−34.6%), r = −0.94</a:t>
            </a:r>
            <a:endParaRPr lang="en-US" sz="1400" dirty="0"/>
          </a:p>
        </p:txBody>
      </p:sp>
      <p:sp>
        <p:nvSpPr>
          <p:cNvPr id="13" name="Stat label 46"/>
          <p:cNvSpPr txBox="1"/>
          <p:nvPr/>
        </p:nvSpPr>
        <p:spPr>
          <a:xfrm>
            <a:off x="7726680" y="3063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Malays</a:t>
            </a:r>
            <a:endParaRPr lang="en-US" sz="1400" dirty="0"/>
          </a:p>
        </p:txBody>
      </p:sp>
      <p:sp>
        <p:nvSpPr>
          <p:cNvPr id="14" name="Stat box 47"/>
          <p:cNvSpPr txBox="1"/>
          <p:nvPr/>
        </p:nvSpPr>
        <p:spPr>
          <a:xfrm>
            <a:off x="8869680" y="306324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1.80 → 1.53 (−15.0%), r = −0.91</a:t>
            </a:r>
            <a:endParaRPr lang="en-US" sz="1400" dirty="0"/>
          </a:p>
        </p:txBody>
      </p:sp>
      <p:sp>
        <p:nvSpPr>
          <p:cNvPr id="15" name="Stat label 48"/>
          <p:cNvSpPr txBox="1"/>
          <p:nvPr/>
        </p:nvSpPr>
        <p:spPr>
          <a:xfrm>
            <a:off x="7726680" y="38862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Indians</a:t>
            </a:r>
            <a:endParaRPr lang="en-US" sz="1400" dirty="0"/>
          </a:p>
        </p:txBody>
      </p:sp>
      <p:sp>
        <p:nvSpPr>
          <p:cNvPr id="16" name="Stat box 49"/>
          <p:cNvSpPr txBox="1"/>
          <p:nvPr/>
        </p:nvSpPr>
        <p:spPr>
          <a:xfrm>
            <a:off x="8869680" y="3886200"/>
            <a:ext cx="2864815" cy="6858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1.04 → 0.92 (−11.5%), r = −0.74</a:t>
            </a:r>
            <a:endParaRPr lang="en-US" sz="1400" dirty="0"/>
          </a:p>
        </p:txBody>
      </p:sp>
      <p:sp>
        <p:nvSpPr>
          <p:cNvPr id="17" name="Takeaway frame 50"/>
          <p:cNvSpPr/>
          <p:nvPr/>
        </p:nvSpPr>
        <p:spPr>
          <a:xfrm>
            <a:off x="7726680" y="4754880"/>
            <a:ext cx="4007815" cy="16459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pic>
        <p:nvPicPr>
          <p:cNvPr id="18" name="Icon 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983480"/>
            <a:ext cx="411480" cy="411480"/>
          </a:xfrm>
          <a:prstGeom prst="rect">
            <a:avLst/>
          </a:prstGeom>
        </p:spPr>
      </p:pic>
      <p:sp>
        <p:nvSpPr>
          <p:cNvPr id="19" name="Takeaway 52"/>
          <p:cNvSpPr txBox="1"/>
          <p:nvPr/>
        </p:nvSpPr>
        <p:spPr>
          <a:xfrm>
            <a:off x="8503920" y="4846320"/>
            <a:ext cx="3093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Malay fertility held near 1.8 until 2022, then fell after inflation picked up</a:t>
            </a:r>
            <a:endParaRPr lang="en-US" sz="1400" dirty="0"/>
          </a:p>
        </p:txBody>
      </p:sp>
      <p:pic>
        <p:nvPicPr>
          <p:cNvPr id="20" name="Icon 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5760720"/>
            <a:ext cx="411480" cy="411480"/>
          </a:xfrm>
          <a:prstGeom prst="rect">
            <a:avLst/>
          </a:prstGeom>
        </p:spPr>
      </p:pic>
      <p:sp>
        <p:nvSpPr>
          <p:cNvPr id="21" name="Takeaway 54"/>
          <p:cNvSpPr txBox="1"/>
          <p:nvPr/>
        </p:nvSpPr>
        <p:spPr>
          <a:xfrm>
            <a:off x="8503920" y="5623560"/>
            <a:ext cx="3093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Caution: 10 yearly points with shared trends show association, not cause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dings Template">
  <a:themeElements>
    <a:clrScheme name="Findings Template">
      <a:dk1>
        <a:srgbClr val="000000"/>
      </a:dk1>
      <a:lt1>
        <a:srgbClr val="FFFFFF"/>
      </a:lt1>
      <a:dk2>
        <a:srgbClr val="1F3864"/>
      </a:dk2>
      <a:lt2>
        <a:srgbClr val="D9D9D9"/>
      </a:lt2>
      <a:accent1>
        <a:srgbClr val="2E75B6"/>
      </a:accent1>
      <a:accent2>
        <a:srgbClr val="2A9D62"/>
      </a:accent2>
      <a:accent3>
        <a:srgbClr val="D6A436"/>
      </a:accent3>
      <a:accent4>
        <a:srgbClr val="CC3B32"/>
      </a:accent4>
      <a:accent5>
        <a:srgbClr val="DDEBF7"/>
      </a:accent5>
      <a:accent6>
        <a:srgbClr val="E2F0D9"/>
      </a:accent6>
      <a:hlink>
        <a:srgbClr val="2E75B6"/>
      </a:hlink>
      <a:folHlink>
        <a:srgbClr val="1F3864"/>
      </a:folHlink>
    </a:clrScheme>
    <a:fontScheme name="Findings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Singapore birth rate vs. prices: dashboard findings</dc:title>
  <dc:subject>PptxGenJS Presentation</dc:subject>
  <dc:creator>PptxGenJS</dc:creator>
  <cp:lastModifiedBy>PptxGenJS</cp:lastModifiedBy>
  <cp:revision>1</cp:revision>
  <dcterms:created xsi:type="dcterms:W3CDTF">2026-10-06T03:52:27Z</dcterms:created>
  <dcterms:modified xsi:type="dcterms:W3CDTF">2026-10-06T03:52:27Z</dcterms:modified>
</cp:coreProperties>
</file>